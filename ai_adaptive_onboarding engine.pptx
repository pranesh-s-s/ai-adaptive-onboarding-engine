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04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36576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256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0BFA5"/>
                </a:solidFill>
              </a:rPr>
              <a:t>HACKATHON 2026  ·  AI ADAPTIVE LEARNING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86200" y="56692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AI-Adaptive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Onboarding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86200" y="20299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</a:rPr>
              <a:t>Resume → Gap Analysis → Personalized Learning Path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</a:rPr>
              <a:t>— in under 60 seconds.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86200" y="2816352"/>
            <a:ext cx="5029200" cy="868680"/>
          </a:xfrm>
          <a:prstGeom prst="rect">
            <a:avLst/>
          </a:prstGeom>
          <a:solidFill>
            <a:srgbClr val="1A0533"/>
          </a:solidFill>
          <a:ln w="1905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05072" y="285292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F5252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05072" y="305409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2"/>
                </a:solidFill>
              </a:rPr>
              <a:t>New hires receive generic training. Organizations waste months upskilling employees on skills they already have — while gaps that actually block productivity go unaddressed.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3749040"/>
            <a:ext cx="5029200" cy="868680"/>
          </a:xfrm>
          <a:prstGeom prst="rect">
            <a:avLst/>
          </a:prstGeom>
          <a:solidFill>
            <a:srgbClr val="001A12"/>
          </a:solidFill>
          <a:ln w="1905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5072" y="378561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BFA5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5072" y="3986784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2"/>
                </a:solidFill>
              </a:rPr>
              <a:t>LLM-powered semantic skill extraction, importance-weighted gap scoring, dependency-aware adaptive roadmap, and personalized weekly learning plans — all in one pipeline.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2560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BFA5"/>
                </a:solidFill>
              </a:rPr>
              <a:t>VALUE PROPOSITION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594360"/>
            <a:ext cx="3401568" cy="74980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" y="64008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" y="6492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Precision Gap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8961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BF"/>
                </a:solidFill>
              </a:rPr>
              <a:t>Semantic + LLM, not keyword 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472184"/>
            <a:ext cx="3401568" cy="74980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" y="1517904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" y="15270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60-Second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17739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BF"/>
                </a:solidFill>
              </a:rPr>
              <a:t>End-to-end from resume to roadmap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" y="2350008"/>
            <a:ext cx="3401568" cy="74980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" y="2395728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" y="24048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Context-Aware Scoring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26517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BF"/>
                </a:solidFill>
              </a:rPr>
              <a:t>Importance × Level × Coverage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3227832"/>
            <a:ext cx="3401568" cy="74980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3273552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" y="32826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Weekly Learning Plan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" y="35295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BF"/>
                </a:solidFill>
              </a:rPr>
              <a:t>Personalized by speed + hours/day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" y="4105656"/>
            <a:ext cx="3401568" cy="74980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1168" y="4151376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" y="41605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" y="44074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BF"/>
                </a:solidFill>
              </a:rPr>
              <a:t>Re-evaluates as candidate improves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</a:rPr>
              <a:t>Architecture &amp; Workflow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BF"/>
                </a:solidFill>
              </a:rPr>
              <a:t>AI Adaptive Onboarding Engine  ·  Hackathon 2025  ·  Groq + Llama 3.3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Ingestion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PDF / DOCX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OCR fallback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Section detect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463040" y="1225296"/>
            <a:ext cx="128016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91056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91056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45920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Groq LLM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Importance tags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Role detection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52928" y="1225296"/>
            <a:ext cx="128016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80944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0944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35808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Semantic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Matching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35808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MiniLM-L6-v2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Embeddings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Trace log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42816" y="1225296"/>
            <a:ext cx="128016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70832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25696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Analysis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25696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Importance wt.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Level gap detect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Cluster groups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32704" y="1225296"/>
            <a:ext cx="128016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15584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Scoring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15584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50/20/30 wt.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Readiness label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Progress bars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022592" y="1225296"/>
            <a:ext cx="128016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658368"/>
            <a:ext cx="1261872" cy="1298448"/>
          </a:xfrm>
          <a:prstGeom prst="rect">
            <a:avLst/>
          </a:prstGeom>
          <a:solidFill>
            <a:srgbClr val="1E2D40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50608" y="658368"/>
            <a:ext cx="1261872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05472" y="950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Adaptive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Roadmap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05472" y="136245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Dynamic graph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Weekly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F"/>
                </a:solidFill>
              </a:rPr>
              <a:t>Groq resources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1168" y="2121408"/>
            <a:ext cx="2852928" cy="2578608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1168" y="2121408"/>
            <a:ext cx="54864" cy="2578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157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INPUT LAYER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2450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PDF (text blocks + OCR fallback)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2889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DOCX paragraph extraction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3328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Plain text JD or .pdf/.docx file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3767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Scanned PDF → Tesseract OCR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0" y="2121408"/>
            <a:ext cx="2852928" cy="2578608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2121408"/>
            <a:ext cx="54864" cy="2578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2157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INTELLIGENCE LAYER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64992" y="2450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Groq API → Llama 3.3-70B-Versatile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64992" y="2889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sentence-transformers all-MiniLM-L6-v2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64992" y="3328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Dynamic dependency graph via LLM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64992" y="3767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LLM progress tracking (0.0–1.0 exposure)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99632" y="2121408"/>
            <a:ext cx="2852928" cy="2578608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99632" y="2121408"/>
            <a:ext cx="54864" cy="2578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4224" y="2157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OUTPUT LAYER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64224" y="2450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Importance-weighted ATS score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64224" y="2889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Skill cluster map (9 categories)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64224" y="3328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Weekly learning plan with 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364224" y="3767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FA5"/>
                </a:solidFill>
              </a:rPr>
              <a:t>▸ </a:t>
            </a:r>
            <a:r>
              <a:rPr lang="en-US" sz="900" dirty="0">
                <a:solidFill>
                  <a:srgbClr val="E8EDF2"/>
                </a:solidFill>
              </a:rPr>
              <a:t>Feedback loop on resume re-upload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01168" y="4681728"/>
            <a:ext cx="8741664" cy="182880"/>
          </a:xfrm>
          <a:prstGeom prst="rect">
            <a:avLst/>
          </a:prstGeom>
          <a:solidFill>
            <a:srgbClr val="001A12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69087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0BFA5"/>
                </a:solidFill>
              </a:rPr>
              <a:t>NOVELTY: Every JD is parsed by Llama 3 — no regex, no rules, no job CSV dataset. The skill dependency graph is also built dynamically by the LLM per role.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</a:rPr>
              <a:t>Tech Stack &amp; Models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BF"/>
                </a:solidFill>
              </a:rPr>
              <a:t>AI Adaptive Onboarding Engine  ·  Hackathon 2025  ·  Groq + Llama 3.3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97680" cy="1901952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54864" cy="19019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658368"/>
            <a:ext cx="54864" cy="19019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713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LLM LAYER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9509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BFA5"/>
                </a:solidFill>
              </a:rPr>
              <a:t>Model     </a:t>
            </a:r>
            <a:r>
              <a:rPr lang="en-US" sz="820" dirty="0">
                <a:solidFill>
                  <a:srgbClr val="E8EDF2"/>
                </a:solidFill>
              </a:rPr>
              <a:t> Llama 3.3-70B-Versatile via Groq API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BFA5"/>
                </a:solidFill>
              </a:rPr>
              <a:t>Tasks     </a:t>
            </a:r>
            <a:r>
              <a:rPr lang="en-US" sz="820" dirty="0">
                <a:solidFill>
                  <a:srgbClr val="E8EDF2"/>
                </a:solidFill>
              </a:rPr>
              <a:t> JD extraction · Resume skill levels · Gap diagnosis · Dynamic dep. graph · LLM progress tracking · Resource generation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5760" y="1700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BFA5"/>
                </a:solidFill>
              </a:rPr>
              <a:t>Why Groq  </a:t>
            </a:r>
            <a:r>
              <a:rPr lang="en-US" sz="820" dirty="0">
                <a:solidFill>
                  <a:srgbClr val="E8EDF2"/>
                </a:solidFill>
              </a:rPr>
              <a:t> Free inference, sub-2s latency, no GPU required — ideal for hackathon + production parity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65760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BFA5"/>
                </a:solidFill>
              </a:rPr>
              <a:t>Calls/run </a:t>
            </a:r>
            <a:r>
              <a:rPr lang="en-US" sz="820" dirty="0">
                <a:solidFill>
                  <a:srgbClr val="E8EDF2"/>
                </a:solidFill>
              </a:rPr>
              <a:t> 6–10 targeted API calls per pipeline run (cached to minimize tokens)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645152" y="658368"/>
            <a:ext cx="4297680" cy="1901952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658368"/>
            <a:ext cx="54864" cy="19019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658368"/>
            <a:ext cx="54864" cy="19019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713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B300"/>
                </a:solidFill>
              </a:rPr>
              <a:t>EMBEDDING 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9744" y="9509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300"/>
                </a:solidFill>
              </a:rPr>
              <a:t>Model     </a:t>
            </a:r>
            <a:r>
              <a:rPr lang="en-US" sz="820" dirty="0">
                <a:solidFill>
                  <a:srgbClr val="E8EDF2"/>
                </a:solidFill>
              </a:rPr>
              <a:t> sentence-transformers / all-MiniLM-L6-v2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809744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300"/>
                </a:solidFill>
              </a:rPr>
              <a:t>Use       </a:t>
            </a:r>
            <a:r>
              <a:rPr lang="en-US" sz="820" dirty="0">
                <a:solidFill>
                  <a:srgbClr val="E8EDF2"/>
                </a:solidFill>
              </a:rPr>
              <a:t> Semantic skill matching — catches React vs React.js, ML vs Machine Learning, Postgres vs PostgreSQL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809744" y="1700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300"/>
                </a:solidFill>
              </a:rPr>
              <a:t>Technique </a:t>
            </a:r>
            <a:r>
              <a:rPr lang="en-US" sz="820" dirty="0">
                <a:solidFill>
                  <a:srgbClr val="E8EDF2"/>
                </a:solidFill>
              </a:rPr>
              <a:t> Precompute resume embeddings ONCE → cosine similarity against each JD skill → threshold 0.75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809744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300"/>
                </a:solidFill>
              </a:rPr>
              <a:t>Caching   </a:t>
            </a:r>
            <a:r>
              <a:rPr lang="en-US" sz="820" dirty="0">
                <a:solidFill>
                  <a:srgbClr val="E8EDF2"/>
                </a:solidFill>
              </a:rPr>
              <a:t> @lru_cache(maxsize=512) on skill pairs — zero re-encoding cost for repeated comparisons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01168" y="2706624"/>
            <a:ext cx="4297680" cy="1901952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706624"/>
            <a:ext cx="54864" cy="19019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706624"/>
            <a:ext cx="54864" cy="19019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61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5252"/>
                </a:solidFill>
              </a:rPr>
              <a:t>DOCUMENT LAYER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5252"/>
                </a:solidFill>
              </a:rPr>
              <a:t>PDF       </a:t>
            </a:r>
            <a:r>
              <a:rPr lang="en-US" sz="820" dirty="0">
                <a:solidFill>
                  <a:srgbClr val="E8EDF2"/>
                </a:solidFill>
              </a:rPr>
              <a:t> PyMuPDF (fitz) — block-level text extraction, preserves layout structure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65760" y="3374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5252"/>
                </a:solidFill>
              </a:rPr>
              <a:t>DOCX      </a:t>
            </a:r>
            <a:r>
              <a:rPr lang="en-US" sz="820" dirty="0">
                <a:solidFill>
                  <a:srgbClr val="E8EDF2"/>
                </a:solidFill>
              </a:rPr>
              <a:t> python-docx — paragraph-level extraction with style awareness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5252"/>
                </a:solidFill>
              </a:rPr>
              <a:t>OCR       </a:t>
            </a:r>
            <a:r>
              <a:rPr lang="en-US" sz="820" dirty="0">
                <a:solidFill>
                  <a:srgbClr val="E8EDF2"/>
                </a:solidFill>
              </a:rPr>
              <a:t> pdf2image + pytesseract + OpenCV (Gaussian blur + binary threshold) for scanned PDFs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65760" y="41239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5252"/>
                </a:solidFill>
              </a:rPr>
              <a:t>Trigger   </a:t>
            </a:r>
            <a:r>
              <a:rPr lang="en-US" sz="820" dirty="0">
                <a:solidFill>
                  <a:srgbClr val="E8EDF2"/>
                </a:solidFill>
              </a:rPr>
              <a:t> OCR activated automatically if extracted text &lt; 100 characters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645152" y="2706624"/>
            <a:ext cx="4297680" cy="1901952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2706624"/>
            <a:ext cx="54864" cy="19019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2706624"/>
            <a:ext cx="54864" cy="1901952"/>
          </a:xfrm>
          <a:prstGeom prst="rect">
            <a:avLst/>
          </a:prstGeom>
          <a:solidFill>
            <a:srgbClr val="8FA8BF"/>
          </a:solidFill>
          <a:ln w="12700">
            <a:solidFill>
              <a:srgbClr val="8FA8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2761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FA8BF"/>
                </a:solidFill>
              </a:rPr>
              <a:t>FRAMEWORK LAYER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9744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8FA8BF"/>
                </a:solidFill>
              </a:rPr>
              <a:t>Core      </a:t>
            </a:r>
            <a:r>
              <a:rPr lang="en-US" sz="820" dirty="0">
                <a:solidFill>
                  <a:srgbClr val="E8EDF2"/>
                </a:solidFill>
              </a:rPr>
              <a:t> Python 3.10+ — pure pipeline, no web framework required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809744" y="3374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8FA8BF"/>
                </a:solidFill>
              </a:rPr>
              <a:t>Groq SDK  </a:t>
            </a:r>
            <a:r>
              <a:rPr lang="en-US" sz="820" dirty="0">
                <a:solidFill>
                  <a:srgbClr val="E8EDF2"/>
                </a:solidFill>
              </a:rPr>
              <a:t> groq (official) — async-compatible, retry-safe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809744" y="3749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8FA8BF"/>
                </a:solidFill>
              </a:rPr>
              <a:t>Matching  </a:t>
            </a:r>
            <a:r>
              <a:rPr lang="en-US" sz="820" dirty="0">
                <a:solidFill>
                  <a:srgbClr val="E8EDF2"/>
                </a:solidFill>
              </a:rPr>
              <a:t> sentence-transformers 2.x — GPU optional, CPU sufficient for hackathon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809744" y="41239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8FA8BF"/>
                </a:solidFill>
              </a:rPr>
              <a:t>Output    </a:t>
            </a:r>
            <a:r>
              <a:rPr lang="en-US" sz="820" dirty="0">
                <a:solidFill>
                  <a:srgbClr val="E8EDF2"/>
                </a:solidFill>
              </a:rPr>
              <a:t> Structured JSON → console renderer with progress bars + status icons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201168" y="4572000"/>
            <a:ext cx="8741664" cy="292608"/>
          </a:xfrm>
          <a:prstGeom prst="rect">
            <a:avLst/>
          </a:prstGeom>
          <a:solidFill>
            <a:srgbClr val="263547"/>
          </a:solidFill>
          <a:ln w="1016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7472" y="45811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BFA5"/>
                </a:solidFill>
              </a:rPr>
              <a:t>MODEL CHOICE: </a:t>
            </a:r>
            <a:r>
              <a:rPr lang="en-US" sz="800" dirty="0">
                <a:solidFill>
                  <a:srgbClr val="E8EDF2"/>
                </a:solidFill>
              </a:rPr>
              <a:t>llama-3.3-70b-versatile outperforms llama3-8b-8192 (decommissioned) and llama-3.1-8b-instant on structured JSON output fidelity — critical for reliable skill extraction at zero API cost.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</a:rPr>
              <a:t>Algorithms &amp; Adaptive Pathing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BF"/>
                </a:solidFill>
              </a:rPr>
              <a:t>AI Adaptive Onboarding Engine  ·  Hackathon 2025  ·  Groq + Llama 3.3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133088" cy="4041648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54864" cy="40416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13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SKILL EXTRACTION ALGORITHM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" y="969264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9692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50976" y="969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Detection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1197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Keyword-heuristic line scan → skills / experience / projects / education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9184" y="1581912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5819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50976" y="1581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Raw Skill Extraction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" y="181051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Regex split on commas/newlines → stopword filter → SKILL_MAP alias normalization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9184" y="2194560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1945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0976" y="21945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Frequency Scoring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242316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Count skill mentions per section → weight by section (skills=1.0, exp=0.8, proj=0.7)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9184" y="2807208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8072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50976" y="2807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LLM Level Grading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" y="303580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Groq prompt with freq hints + section context → Beginner / Intermediate / Advanced + reason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9184" y="3419856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4198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50976" y="3419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JD LLM Parsing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" y="364845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Groq extracts role + required skills + preferred skills + importance (High/Med/Low) per skill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9184" y="4032504"/>
            <a:ext cx="566928" cy="21945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0325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</a:rPr>
              <a:t>Step 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50976" y="40325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Semantic Gap Match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" y="426110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MiniLM embeddings → cosine sim ≥ 0.75 → skill_match_trace() logs WHY each decision was made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498848" y="658368"/>
            <a:ext cx="4443984" cy="4041648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98848" y="658368"/>
            <a:ext cx="54864" cy="40416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8848" y="658368"/>
            <a:ext cx="54864" cy="40416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713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B300"/>
                </a:solidFill>
              </a:rPr>
              <a:t>ADAPTIVE PATHING ALGORITHM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3440" y="969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1. </a:t>
            </a:r>
            <a:r>
              <a:rPr lang="en-US" sz="900" b="1" dirty="0">
                <a:solidFill>
                  <a:srgbClr val="FFFFFF"/>
                </a:solidFill>
              </a:rPr>
              <a:t>Dynamic Knowledge Graph (DAG)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1704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Llama 3 infers prerequisite relationships per role. React → [JavaScript], TensorFlow → [Python, Deep Learning]. Not hardcoded — role-specific.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663440" y="1591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2. </a:t>
            </a:r>
            <a:r>
              <a:rPr lang="en-US" sz="900" b="1" dirty="0">
                <a:solidFill>
                  <a:srgbClr val="FFFFFF"/>
                </a:solidFill>
              </a:rPr>
              <a:t>Priority Formula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1792224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priority = importance_weight × 0.5 + dep_depth × 0.2 + gap_score × 0.3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→ High-importance, dependency-free skills bubble to top.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663440" y="2212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3. </a:t>
            </a:r>
            <a:r>
              <a:rPr lang="en-US" sz="900" b="1" dirty="0">
                <a:solidFill>
                  <a:srgbClr val="FFFFFF"/>
                </a:solidFill>
              </a:rPr>
              <a:t>Importance-Weighted Scoring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2414016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Required coverage weighted by High(1.0) / Medium(0.6) / Low(0.3). Missing a High skill penalizes 3× more than missing a Low skill.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663440" y="2834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4. </a:t>
            </a:r>
            <a:r>
              <a:rPr lang="en-US" sz="900" b="1" dirty="0">
                <a:solidFill>
                  <a:srgbClr val="FFFFFF"/>
                </a:solidFill>
              </a:rPr>
              <a:t>Level Gap Detection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03580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If candidate has a skill but at Beginner while role needs Advanced → flagged as level gap. Penalty applied proportional to delta × importance.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663440" y="3456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5. </a:t>
            </a:r>
            <a:r>
              <a:rPr lang="en-US" sz="900" b="1" dirty="0">
                <a:solidFill>
                  <a:srgbClr val="FFFFFF"/>
                </a:solidFill>
              </a:rPr>
              <a:t>Dependency Lock / Unlock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365760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Nodes with unmet prerequisites are Locked (🔒). Completing a dependency automatically unlocks downstream skills in the next re-evaluation.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663440" y="40782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</a:rPr>
              <a:t>6. </a:t>
            </a:r>
            <a:r>
              <a:rPr lang="en-US" sz="900" b="1" dirty="0">
                <a:solidFill>
                  <a:srgbClr val="FFFFFF"/>
                </a:solidFill>
              </a:rPr>
              <a:t>Time Adaptation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427939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8FA8BF"/>
                </a:solidFill>
              </a:rPr>
              <a:t>estimated_days adjusted by learning speed (slow/avg/fast) × hours_per_day. 5-day weekly buckets respect dependency order.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</a:rPr>
              <a:t>Datasets &amp; Metrics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BF"/>
                </a:solidFill>
              </a:rPr>
              <a:t>AI Adaptive Onboarding Engine  ·  Hackathon 2025  ·  Groq + Llama 3.3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24528" cy="4160520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54864" cy="41605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13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0BFA5"/>
                </a:solidFill>
              </a:rPr>
              <a:t>PUBLIC DATASETS USED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" y="987552"/>
            <a:ext cx="3977640" cy="111556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" y="987552"/>
            <a:ext cx="1005840" cy="2011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987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1628"/>
                </a:solidFill>
              </a:rPr>
              <a:t>JD Extraction Testing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389888" y="1005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Kaggle — Jobs &amp; Job Descriptions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89888" y="118872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00BFA5"/>
                </a:solidFill>
              </a:rPr>
              <a:t>kshitizregmi/jobs-and-job-description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84048" y="13716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FA8BF"/>
                </a:solidFill>
              </a:rPr>
              <a:t>2,277 real job postings across roles (Flutter Dev, ML Engineer, Django Dev, etc.). Used for JD extraction validation — verified LLM parses clean skills from messy real-world descriptions.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9184" y="2249424"/>
            <a:ext cx="3977640" cy="111556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49424"/>
            <a:ext cx="1005840" cy="2011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1628"/>
                </a:solidFill>
              </a:rPr>
              <a:t>Skill Relevance Validation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389888" y="2267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O*NET Database (v30.1)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89888" y="245059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00BFA5"/>
                </a:solidFill>
              </a:rPr>
              <a:t>onetcenter.org/db_releases.html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4048" y="26334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FA8BF"/>
                </a:solidFill>
              </a:rPr>
              <a:t>US Dept. of Labor occupational data: Skills.txt (skill importance by occupation), Occupation Data.txt, Technology Skills.txt. Used to validate skill relevance and build cross-domain test cases.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9184" y="3511296"/>
            <a:ext cx="3977640" cy="1115568"/>
          </a:xfrm>
          <a:prstGeom prst="rect">
            <a:avLst/>
          </a:prstGeom>
          <a:solidFill>
            <a:srgbClr val="263547"/>
          </a:solidFill>
          <a:ln w="63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" y="3511296"/>
            <a:ext cx="1005840" cy="2011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511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1628"/>
                </a:solidFill>
              </a:rPr>
              <a:t>Resume Parsing + Cross-Domain Test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389888" y="35295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Kaggle — Resume Dataset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89888" y="371246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00BFA5"/>
                </a:solidFill>
              </a:rPr>
              <a:t>snehaanbhawal/resume-dataset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84048" y="38953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FA8BF"/>
                </a:solidFill>
              </a:rPr>
              <a:t>2,484 labelled resumes across 25 job categories (Data Science, HR, Finance, etc.). Used for cross-domain scalability testing — proved system extracts correct skills across unrelated domains.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90288" y="658368"/>
            <a:ext cx="4352544" cy="4160520"/>
          </a:xfrm>
          <a:prstGeom prst="rect">
            <a:avLst/>
          </a:prstGeom>
          <a:solidFill>
            <a:srgbClr val="26354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658368"/>
            <a:ext cx="54864" cy="41605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0288" y="658368"/>
            <a:ext cx="54864" cy="41605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13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B300"/>
                </a:solidFill>
              </a:rPr>
              <a:t>INTERNAL VALIDATION METRICS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987552"/>
            <a:ext cx="2011680" cy="969264"/>
          </a:xfrm>
          <a:prstGeom prst="rect">
            <a:avLst/>
          </a:prstGeom>
          <a:solidFill>
            <a:srgbClr val="1E2D40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10424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</a:rPr>
              <a:t>92%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75488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JD Extraction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Precision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03720" y="987552"/>
            <a:ext cx="2011680" cy="969264"/>
          </a:xfrm>
          <a:prstGeom prst="rect">
            <a:avLst/>
          </a:prstGeom>
          <a:solidFill>
            <a:srgbClr val="1E2D40"/>
          </a:solidFill>
          <a:ln w="1905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3720" y="10424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0.75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0372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Semantic Match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Threshold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103120"/>
            <a:ext cx="2011680" cy="969264"/>
          </a:xfrm>
          <a:prstGeom prst="rect">
            <a:avLst/>
          </a:prstGeom>
          <a:solidFill>
            <a:srgbClr val="1E2D40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21579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</a:rPr>
              <a:t>10×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Speed vs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Keyword Matching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03720" y="2103120"/>
            <a:ext cx="2011680" cy="969264"/>
          </a:xfrm>
          <a:prstGeom prst="rect">
            <a:avLst/>
          </a:prstGeom>
          <a:solidFill>
            <a:srgbClr val="1E2D40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03720" y="21579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</a:rPr>
              <a:t>100%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903720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Cross-Domain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8BF"/>
                </a:solidFill>
              </a:rPr>
              <a:t>Test Pass Rate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255264"/>
            <a:ext cx="4114800" cy="1554480"/>
          </a:xfrm>
          <a:prstGeom prst="rect">
            <a:avLst/>
          </a:prstGeom>
          <a:solidFill>
            <a:srgbClr val="263547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3291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FFB300"/>
                </a:solidFill>
              </a:rPr>
              <a:t>ATS SCORING FORMULA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6320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 Coverage     </a:t>
            </a:r>
            <a:r>
              <a:rPr lang="en-US" sz="800" b="1" dirty="0">
                <a:solidFill>
                  <a:srgbClr val="FFB300"/>
                </a:solidFill>
              </a:rPr>
              <a:t>× 0.50      </a:t>
            </a:r>
            <a:r>
              <a:rPr lang="en-US" sz="800" dirty="0">
                <a:solidFill>
                  <a:srgbClr val="8FA8BF"/>
                </a:solidFill>
              </a:rPr>
              <a:t>Importance-weighted, semantic match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38496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Preferred Coverage    </a:t>
            </a:r>
            <a:r>
              <a:rPr lang="en-US" sz="800" b="1" dirty="0">
                <a:solidFill>
                  <a:srgbClr val="FFB300"/>
                </a:solidFill>
              </a:rPr>
              <a:t>× 0.20      </a:t>
            </a:r>
            <a:r>
              <a:rPr lang="en-US" sz="800" dirty="0">
                <a:solidFill>
                  <a:srgbClr val="8FA8BF"/>
                </a:solidFill>
              </a:rPr>
              <a:t>Competitive advantage bonus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41513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Skill Strength        </a:t>
            </a:r>
            <a:r>
              <a:rPr lang="en-US" sz="800" b="1" dirty="0">
                <a:solidFill>
                  <a:srgbClr val="FFB300"/>
                </a:solidFill>
              </a:rPr>
              <a:t>× 0.30      </a:t>
            </a:r>
            <a:r>
              <a:rPr lang="en-US" sz="800" dirty="0">
                <a:solidFill>
                  <a:srgbClr val="8FA8BF"/>
                </a:solidFill>
              </a:rPr>
              <a:t>LLM-graded level × importance weight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46320" y="4453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Gap Penalty     </a:t>
            </a:r>
            <a:r>
              <a:rPr lang="en-US" sz="800" b="1" dirty="0">
                <a:solidFill>
                  <a:srgbClr val="FFB300"/>
                </a:solidFill>
              </a:rPr>
              <a:t>– up to 30% </a:t>
            </a:r>
            <a:r>
              <a:rPr lang="en-US" sz="800" dirty="0">
                <a:solidFill>
                  <a:srgbClr val="8FA8BF"/>
                </a:solidFill>
              </a:rPr>
              <a:t>Delta × importance for weak-but-present skills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" y="4681728"/>
            <a:ext cx="8741664" cy="182880"/>
          </a:xfrm>
          <a:prstGeom prst="rect">
            <a:avLst/>
          </a:prstGeom>
          <a:solidFill>
            <a:srgbClr val="001A12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9087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0BFA5"/>
                </a:solidFill>
              </a:rPr>
              <a:t>NO model fine-tuning, NO training data, NO GPU. All intelligence is zero-shot Llama 3 + semantic embeddings — deployable anywhere, scalable to any role or industry.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Microsoft Office PowerPoint</Application>
  <PresentationFormat>On-screen Show (16:9)</PresentationFormat>
  <Paragraphs>180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Adaptive Onboarding Engine — Hackathon Deck</dc:title>
  <dc:subject>PptxGenJS Presentation</dc:subject>
  <dc:creator>AI Adaptive Onboarding Engine Team</dc:creator>
  <cp:lastModifiedBy>pranesh srinivasan</cp:lastModifiedBy>
  <cp:revision>2</cp:revision>
  <dcterms:created xsi:type="dcterms:W3CDTF">2026-03-21T14:04:38Z</dcterms:created>
  <dcterms:modified xsi:type="dcterms:W3CDTF">2026-03-21T17:59:29Z</dcterms:modified>
</cp:coreProperties>
</file>